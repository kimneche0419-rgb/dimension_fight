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6401" y="171523"/>
            <a:ext cx="28347" cy="28347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96993" y="702911"/>
            <a:ext cx="45378" cy="453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7308" y="2893539"/>
            <a:ext cx="19377" cy="19377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9510" y="4128644"/>
            <a:ext cx="38816" cy="388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01998" y="3080675"/>
            <a:ext cx="28463" cy="28463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28250" y="1094943"/>
            <a:ext cx="33745" cy="33745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90867" y="6564567"/>
            <a:ext cx="30599" cy="30599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20493" y="2461880"/>
            <a:ext cx="30868" cy="30868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15906" y="5004500"/>
            <a:ext cx="37901" cy="3790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8330" y="2010616"/>
            <a:ext cx="41281" cy="41281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21479" y="4831953"/>
            <a:ext cx="19964" cy="19964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01686" y="6756649"/>
            <a:ext cx="49572" cy="495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22912" y="3109487"/>
            <a:ext cx="48796" cy="48796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1963" y="1436799"/>
            <a:ext cx="28052" cy="2805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07958" y="1173668"/>
            <a:ext cx="44956" cy="44956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21786" y="1851302"/>
            <a:ext cx="52135" cy="5213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70854" y="2223930"/>
            <a:ext cx="46389" cy="46389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85572" y="220143"/>
            <a:ext cx="29826" cy="29826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954" y="6262287"/>
            <a:ext cx="39033" cy="39033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85861" y="3423727"/>
            <a:ext cx="50646" cy="506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37535" y="957584"/>
            <a:ext cx="45536" cy="455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95337" y="4009090"/>
            <a:ext cx="51126" cy="5112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02426" y="6839660"/>
            <a:ext cx="23347" cy="2334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5596" y="323124"/>
            <a:ext cx="22298" cy="22298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32889" y="2895173"/>
            <a:ext cx="20611" cy="2061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46909" y="3209886"/>
            <a:ext cx="27483" cy="2748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68389" y="78736"/>
            <a:ext cx="44649" cy="4464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31815" y="5271050"/>
            <a:ext cx="30730" cy="30730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87406" y="3111637"/>
            <a:ext cx="53174" cy="53174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819636" y="5225536"/>
            <a:ext cx="36856" cy="3685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86828" y="2046734"/>
            <a:ext cx="41658" cy="4165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19061" y="2564301"/>
            <a:ext cx="24196" cy="24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170277" y="4107561"/>
            <a:ext cx="36159" cy="36159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299251" y="6026274"/>
            <a:ext cx="48706" cy="48706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912104" y="1651897"/>
            <a:ext cx="39039" cy="39039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1676" y="3332922"/>
            <a:ext cx="20819" cy="208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13710" y="880508"/>
            <a:ext cx="35671" cy="3567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008194" y="3618786"/>
            <a:ext cx="40474" cy="40474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297000" y="5179608"/>
            <a:ext cx="43520" cy="43520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52352" y="4606429"/>
            <a:ext cx="31946" cy="319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90757" y="1700136"/>
            <a:ext cx="20629" cy="20629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154728" y="1578126"/>
            <a:ext cx="26342" cy="2634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08421" y="403756"/>
            <a:ext cx="20753" cy="20753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54473" y="485939"/>
            <a:ext cx="26993" cy="2699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605445" y="907394"/>
            <a:ext cx="52505" cy="5250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07609" y="1666475"/>
            <a:ext cx="35587" cy="355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15673" y="664751"/>
            <a:ext cx="34054" cy="3405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999628" y="5924192"/>
            <a:ext cx="20269" cy="20269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37142" y="4994088"/>
            <a:ext cx="47570" cy="47570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24038" y="1304452"/>
            <a:ext cx="34696" cy="346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231493" y="3172703"/>
            <a:ext cx="50273" cy="50273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389143" y="5907132"/>
            <a:ext cx="38416" cy="3841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931073" y="3707352"/>
            <a:ext cx="18827" cy="18827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266030" y="5820355"/>
            <a:ext cx="24370" cy="2437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54050" y="5929772"/>
            <a:ext cx="51295" cy="51295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608889" y="6757248"/>
            <a:ext cx="27988" cy="279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469064" y="4777224"/>
            <a:ext cx="45006" cy="4500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49361" y="3337592"/>
            <a:ext cx="25233" cy="25233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780978" y="3972018"/>
            <a:ext cx="38119" cy="38119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95216" y="4006289"/>
            <a:ext cx="36680" cy="36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con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658368"/>
            <a:ext cx="2103120" cy="210312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371600" y="2880360"/>
            <a:ext cx="9445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FF2BD6"/>
                </a:solidFill>
                <a:latin typeface="맑은 고딕"/>
              </a:rPr>
              <a:t>D</a:t>
            </a:r>
            <a:r>
              <a:rPr sz="5400" b="1">
                <a:solidFill>
                  <a:srgbClr val="00E5FF"/>
                </a:solidFill>
                <a:latin typeface="맑은 고딕"/>
              </a:rPr>
              <a:t>IMENSION </a:t>
            </a:r>
          </a:p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0E5FF"/>
                </a:solidFill>
                <a:latin typeface="맑은 고딕"/>
              </a:rPr>
              <a:t>F</a:t>
            </a:r>
            <a:r>
              <a:rPr sz="5400" b="1">
                <a:solidFill>
                  <a:srgbClr val="FF2BD6"/>
                </a:solidFill>
                <a:latin typeface="맑은 고딕"/>
              </a:rPr>
              <a:t>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4572000"/>
            <a:ext cx="9445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E14D"/>
                </a:solidFill>
                <a:latin typeface="맑은 고딕"/>
              </a:rPr>
              <a:t>— 차원을 넘어, 별을 쫓아 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1600" y="5230368"/>
            <a:ext cx="9445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B93B0"/>
                </a:solidFill>
                <a:latin typeface="맑은 고딕"/>
              </a:rPr>
              <a:t>C++ · SDL2 기반 2D 차원 액션 슈팅  |  온라인 멀티플레이 지원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27473" y="5777865"/>
            <a:ext cx="2343150" cy="102870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56048" y="5806440"/>
            <a:ext cx="228600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71600" y="6199632"/>
            <a:ext cx="9445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B93B0"/>
                </a:solidFill>
                <a:latin typeface="맑은 고딕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1505" y="446913"/>
            <a:ext cx="139446" cy="62407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프로젝트 개요  </a:t>
            </a:r>
            <a:r>
              <a:rPr sz="1300" b="0">
                <a:solidFill>
                  <a:srgbClr val="00E5FF"/>
                </a:solidFill>
                <a:latin typeface="맑은 고딕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8686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3B0"/>
                </a:solidFill>
                <a:latin typeface="맑은 고딕"/>
              </a:rPr>
              <a:t>02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4114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F2BD6"/>
                </a:solidFill>
                <a:latin typeface="맑은 고딕"/>
              </a:rPr>
              <a:t>DIMENSION </a:t>
            </a:r>
            <a:r>
              <a:rPr sz="1200" b="1">
                <a:solidFill>
                  <a:srgbClr val="00E5FF"/>
                </a:solidFill>
                <a:latin typeface="맑은 고딕"/>
              </a:rPr>
              <a:t>FIGHT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908792" cy="123444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673" y="15624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591056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00784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「디멘션 파이트」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DDE3F5"/>
                </a:solidFill>
                <a:latin typeface="맑은 고딕"/>
              </a:rPr>
              <a:t>물리 차원과 공허 차원을 자유롭게 넘나들며 싸우는 2D 액션 슈팅 게임.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3B0"/>
                </a:solidFill>
                <a:latin typeface="맑은 고딕"/>
              </a:rPr>
              <a:t>1인 개발 · C++/SDL2 클라이언트 + 클라우드 멀티플레이 서버를 직접 구축한 풀스택 게임 프로젝트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2112264" cy="329184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673" y="297980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3008376"/>
            <a:ext cx="45720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136392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맑은 고딕"/>
              </a:rPr>
              <a:t>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70332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0E5FF"/>
                </a:solidFill>
                <a:latin typeface="맑은 고딕"/>
              </a:rPr>
              <a:t>차원 전환 전투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206240"/>
            <a:ext cx="1783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DDE3F5"/>
                </a:solidFill>
                <a:latin typeface="맑은 고딕"/>
              </a:rPr>
              <a:t>SHIFT 키로 물리·공허 차원을 실시간 전환. 차원마다 다른 적과 약점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25496" y="2788920"/>
            <a:ext cx="2112264" cy="329184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98089" y="297980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26664" y="3008376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0088" y="3136392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맑은 고딕"/>
              </a:rPr>
              <a:t>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370332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2BD6"/>
                </a:solidFill>
                <a:latin typeface="맑은 고딕"/>
              </a:rPr>
              <a:t>직업 × 애니 열매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0088" y="4206240"/>
            <a:ext cx="1783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DDE3F5"/>
                </a:solidFill>
                <a:latin typeface="맑은 고딕"/>
              </a:rPr>
              <a:t>전사·차원술사 등 10종 직업, 원피스·드래곤볼 등 애니 열매 스킬 세트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10912" y="2788920"/>
            <a:ext cx="2112264" cy="329184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83505" y="297980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E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80" y="3008376"/>
            <a:ext cx="457200" cy="41148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5504" y="3136392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맑은 고딕"/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370332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E14D"/>
                </a:solidFill>
                <a:latin typeface="맑은 고딕"/>
              </a:rPr>
              <a:t>온라인 멀티플레이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4206240"/>
            <a:ext cx="1783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DDE3F5"/>
                </a:solidFill>
                <a:latin typeface="맑은 고딕"/>
              </a:rPr>
              <a:t>매치메이킹 경유 1vs1 대전 / 협동 모드. 릴레이 서버로 실시간 연결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96328" y="2788920"/>
            <a:ext cx="2112264" cy="329184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68921" y="297980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97496" y="3008376"/>
            <a:ext cx="45720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3136392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맑은 고딕"/>
              </a:rPr>
              <a:t>☁️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70332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0E5FF"/>
                </a:solidFill>
                <a:latin typeface="맑은 고딕"/>
              </a:rPr>
              <a:t>클라우드 동기화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206240"/>
            <a:ext cx="1783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DDE3F5"/>
                </a:solidFill>
                <a:latin typeface="맑은 고딕"/>
              </a:rPr>
              <a:t>회원가입·로그인, 서버 저장 세이브. 어느 PC에서든 진행 상황 이어하기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81744" y="2788920"/>
            <a:ext cx="2112264" cy="329184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54337" y="297980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82912" y="3008376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46336" y="3136392"/>
            <a:ext cx="1783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FFFFF"/>
                </a:solidFill>
                <a:latin typeface="맑은 고딕"/>
              </a:rPr>
              <a:t>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46336" y="3703320"/>
            <a:ext cx="1783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2BD6"/>
                </a:solidFill>
                <a:latin typeface="맑은 고딕"/>
              </a:rPr>
              <a:t>성장 · 수집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46336" y="4206240"/>
            <a:ext cx="1783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DDE3F5"/>
                </a:solidFill>
                <a:latin typeface="맑은 고딕"/>
              </a:rPr>
              <a:t>가챠 뽑기, 장비 제작, 우주선 업그레이드, 레벨업 빌드 선택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1505" y="446913"/>
            <a:ext cx="139446" cy="62407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스토리  </a:t>
            </a:r>
            <a:r>
              <a:rPr sz="1300" b="0">
                <a:solidFill>
                  <a:srgbClr val="00E5FF"/>
                </a:solidFill>
                <a:latin typeface="맑은 고딕"/>
              </a:rPr>
              <a:t>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8686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3B0"/>
                </a:solidFill>
                <a:latin typeface="맑은 고딕"/>
              </a:rPr>
              <a:t>03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4114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F2BD6"/>
                </a:solidFill>
                <a:latin typeface="맑은 고딕"/>
              </a:rPr>
              <a:t>DIMENSION </a:t>
            </a:r>
            <a:r>
              <a:rPr sz="1200" b="1">
                <a:solidFill>
                  <a:srgbClr val="00E5FF"/>
                </a:solidFill>
                <a:latin typeface="맑은 고딕"/>
              </a:rPr>
              <a:t>FIGHT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908792" cy="169164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673" y="15624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591056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27632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차원의 경계가 무너진 우주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DDE3F5"/>
                </a:solidFill>
                <a:latin typeface="맑은 고딕"/>
              </a:rPr>
              <a:t>물리 차원과 공허 차원의 충돌로 우주는 '역설(Paradox)'에 빠졌다.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DDE3F5"/>
                </a:solidFill>
                <a:latin typeface="맑은 고딕"/>
              </a:rPr>
              <a:t>두 차원이 뒤엉키며 태어난 괴물들이 은하를 집어삼키고, 살아남은 자들은 마지막 기지 '제로 섹터'로 피난했다.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E14D"/>
                </a:solidFill>
                <a:latin typeface="맑은 고딕"/>
              </a:rPr>
              <a:t>당신은 차원을 넘을 수 있는 마지막 파일럿. 다섯 개의 위험한 섹터를 돌파하고 특이점의 진실을 마주하라.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2112264" cy="274320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673" y="36198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3648456"/>
            <a:ext cx="45720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7033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E5FF"/>
                </a:solidFill>
                <a:latin typeface="맑은 고딕"/>
              </a:rPr>
              <a:t>Ch.1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050792"/>
            <a:ext cx="1783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Sector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63600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E5FF"/>
                </a:solidFill>
                <a:latin typeface="맑은 고딕"/>
              </a:rPr>
              <a:t>무중력 전투 훈련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001768"/>
            <a:ext cx="1783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차원 파일럿의 첫걸음, 기본 전투 감각 익히기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461772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8B93B0"/>
                </a:solidFill>
                <a:latin typeface="맑은 고딕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25496" y="3429000"/>
            <a:ext cx="2112264" cy="274320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8089" y="36198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26664" y="3648456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0088" y="37033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2BD6"/>
                </a:solidFill>
                <a:latin typeface="맑은 고딕"/>
              </a:rPr>
              <a:t>Ch.2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088" y="4050792"/>
            <a:ext cx="1783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Neon Ruins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463600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2BD6"/>
                </a:solidFill>
                <a:latin typeface="맑은 고딕"/>
              </a:rPr>
              <a:t>네온 폐허 시가전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5001768"/>
            <a:ext cx="1783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붕괴한 도시에서 보병으로 환승해 적 진압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61772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8B93B0"/>
                </a:solidFill>
                <a:latin typeface="맑은 고딕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0912" y="3429000"/>
            <a:ext cx="2112264" cy="274320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83505" y="36198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3648456"/>
            <a:ext cx="45720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75504" y="37033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E5FF"/>
                </a:solidFill>
                <a:latin typeface="맑은 고딕"/>
              </a:rPr>
              <a:t>Ch.3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4" y="4050792"/>
            <a:ext cx="1783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Vantablack Deep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463600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0E5FF"/>
                </a:solidFill>
                <a:latin typeface="맑은 고딕"/>
              </a:rPr>
              <a:t>심해 비행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4" y="5001768"/>
            <a:ext cx="1783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빛이 없는 심해, 어비스 괴물의 영역 돌파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77456" y="461772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8B93B0"/>
                </a:solidFill>
                <a:latin typeface="맑은 고딕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96328" y="3429000"/>
            <a:ext cx="2112264" cy="274320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68921" y="36198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97496" y="3648456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37033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2BD6"/>
                </a:solidFill>
                <a:latin typeface="맑은 고딕"/>
              </a:rPr>
              <a:t>Ch.4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050792"/>
            <a:ext cx="1783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Event Horizon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463600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2BD6"/>
                </a:solidFill>
                <a:latin typeface="맑은 고딕"/>
              </a:rPr>
              <a:t>사건의 지평선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5001768"/>
            <a:ext cx="1783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공허 균열 속, Void God의 군대와 조우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461772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8B93B0"/>
                </a:solidFill>
                <a:latin typeface="맑은 고딕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81744" y="3429000"/>
            <a:ext cx="2112264" cy="274320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54337" y="36198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E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82912" y="3648456"/>
            <a:ext cx="457200" cy="41148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46336" y="37033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E14D"/>
                </a:solidFill>
                <a:latin typeface="맑은 고딕"/>
              </a:rPr>
              <a:t>Ch.5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4050792"/>
            <a:ext cx="1783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Singularity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46336" y="463600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E14D"/>
                </a:solidFill>
                <a:latin typeface="맑은 고딕"/>
              </a:rPr>
              <a:t>특이점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46336" y="5001768"/>
            <a:ext cx="1783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Abyss Lord가 지키는 최종 관문 — 우주의 운명이 걸린 결전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1505" y="446913"/>
            <a:ext cx="139446" cy="62407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기술 스택  </a:t>
            </a:r>
            <a:r>
              <a:rPr sz="1300" b="0">
                <a:solidFill>
                  <a:srgbClr val="00E5FF"/>
                </a:solidFill>
                <a:latin typeface="맑은 고딕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8686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3B0"/>
                </a:solidFill>
                <a:latin typeface="맑은 고딕"/>
              </a:rPr>
              <a:t>04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4114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F2BD6"/>
                </a:solidFill>
                <a:latin typeface="맑은 고딕"/>
              </a:rPr>
              <a:t>DIMENSION </a:t>
            </a:r>
            <a:r>
              <a:rPr sz="1200" b="1">
                <a:solidFill>
                  <a:srgbClr val="00E5FF"/>
                </a:solidFill>
                <a:latin typeface="맑은 고딕"/>
              </a:rPr>
              <a:t>FIGHT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355848" cy="493776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673" y="15624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591056"/>
            <a:ext cx="45720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6420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E5FF"/>
                </a:solidFill>
                <a:latin typeface="맑은 고딕"/>
              </a:rPr>
              <a:t>게임 클라이언트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12848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C++17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게임 엔진 전체 (헤더 기반 모듈 구조)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08376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SDL2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렌더링 · 입력 · 사운드 (Image/Mixer/TTF)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03904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Winsock2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TCP 소켓 통신 (서버 연동)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599432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CMake + Ninja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빌드 시스템 (MinGW GCC 15)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394960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PyInstaller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네온 로딩 화면 런처 exe 패키징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1371600"/>
            <a:ext cx="3355848" cy="493776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89145" y="15624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1591056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2584" y="166420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2BD6"/>
                </a:solidFill>
                <a:latin typeface="맑은 고딕"/>
              </a:rPr>
              <a:t>게임 서버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2212848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Python asyncio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비동기 TCP 서버 3종 (인증·매칭·릴레이)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3008376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Railway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클라우드 서버 배포 (3서비스 분리)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4" y="3803904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PostgreSQL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계정·세이브 저장 (SQLite 폴백 내장)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4599432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Render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WebSocket 게이트웨이 (경로 라우팅)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5394960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Local Proxy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TCP↔WSS 브리지 (WSL/콘솔 없음)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1371600"/>
            <a:ext cx="3355848" cy="493776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5617" y="15624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E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94192" y="1591056"/>
            <a:ext cx="457200" cy="41148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1664208"/>
            <a:ext cx="2843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E14D"/>
                </a:solidFill>
                <a:latin typeface="맑은 고딕"/>
              </a:rPr>
              <a:t>보안 · 인증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2212848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bcrypt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비밀번호 해싱 (레거시 평문 자동 마이그레이션)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3008376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HMAC-SHA256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세션 토큰 서명 (12시간 만료)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3803904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토큰 검증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매칭·릴레이 서버 공유 시크릿 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4599432"/>
            <a:ext cx="2843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비동기 connect</a:t>
            </a:r>
            <a:r>
              <a:rPr sz="1050" b="0">
                <a:solidFill>
                  <a:srgbClr val="8B93B0"/>
                </a:solidFill>
                <a:latin typeface="맑은 고딕"/>
              </a:rPr>
              <a:t>  —  타임아웃·논블로킹 소켓 (UI 프리징 방지)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1505" y="446913"/>
            <a:ext cx="139446" cy="62407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플레이 방법  </a:t>
            </a:r>
            <a:r>
              <a:rPr sz="1300" b="0">
                <a:solidFill>
                  <a:srgbClr val="00E5FF"/>
                </a:solidFill>
                <a:latin typeface="맑은 고딕"/>
              </a:rPr>
              <a:t>HOW TO 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8686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3B0"/>
                </a:solidFill>
                <a:latin typeface="맑은 고딕"/>
              </a:rPr>
              <a:t>05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4114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F2BD6"/>
                </a:solidFill>
                <a:latin typeface="맑은 고딕"/>
              </a:rPr>
              <a:t>DIMENSION </a:t>
            </a:r>
            <a:r>
              <a:rPr sz="1200" b="1">
                <a:solidFill>
                  <a:srgbClr val="00E5FF"/>
                </a:solidFill>
                <a:latin typeface="맑은 고딕"/>
              </a:rPr>
              <a:t>FIGHT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760720" cy="493776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673" y="15624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591056"/>
            <a:ext cx="45720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27632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맑은 고딕"/>
              </a:rPr>
              <a:t>🎮 조작키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2148840"/>
          <a:ext cx="5257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291840"/>
              </a:tblGrid>
              <a:tr h="4972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E5FF"/>
                          </a:solidFill>
                          <a:latin typeface="맑은 고딕"/>
                        </a:rPr>
                        <a:t>WASD / 방향키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DE3F5"/>
                          </a:solidFill>
                          <a:latin typeface="맑은 고딕"/>
                        </a:rPr>
                        <a:t>기체 이동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E5FF"/>
                          </a:solidFill>
                          <a:latin typeface="맑은 고딕"/>
                        </a:rPr>
                        <a:t>SPACE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DE3F5"/>
                          </a:solidFill>
                          <a:latin typeface="맑은 고딕"/>
                        </a:rPr>
                        <a:t>대시 (무적 회피)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E5FF"/>
                          </a:solidFill>
                          <a:latin typeface="맑은 고딕"/>
                        </a:rPr>
                        <a:t>SHIFT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DE3F5"/>
                          </a:solidFill>
                          <a:latin typeface="맑은 고딕"/>
                        </a:rPr>
                        <a:t>차원 전환 — 물리 ↔ 공허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E5FF"/>
                          </a:solidFill>
                          <a:latin typeface="맑은 고딕"/>
                        </a:rPr>
                        <a:t>Q / E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DE3F5"/>
                          </a:solidFill>
                          <a:latin typeface="맑은 고딕"/>
                        </a:rPr>
                        <a:t>무기 교체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E5FF"/>
                          </a:solidFill>
                          <a:latin typeface="맑은 고딕"/>
                        </a:rPr>
                        <a:t>1 ~ 6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DE3F5"/>
                          </a:solidFill>
                          <a:latin typeface="맑은 고딕"/>
                        </a:rPr>
                        <a:t>장착 스킬 발동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E5FF"/>
                          </a:solidFill>
                          <a:latin typeface="맑은 고딕"/>
                        </a:rPr>
                        <a:t>S / C / G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DE3F5"/>
                          </a:solidFill>
                          <a:latin typeface="맑은 고딕"/>
                        </a:rPr>
                        <a:t>상점 / 제작소 / 애니 뽑기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E5FF"/>
                          </a:solidFill>
                          <a:latin typeface="맑은 고딕"/>
                        </a:rPr>
                        <a:t>I / J / V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DE3F5"/>
                          </a:solidFill>
                          <a:latin typeface="맑은 고딕"/>
                        </a:rPr>
                        <a:t>스킬 관리 / 직업 선택 / 기체 색상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</a:tr>
              <a:tr h="49721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0E5FF"/>
                          </a:solidFill>
                          <a:latin typeface="맑은 고딕"/>
                        </a:rPr>
                        <a:t>ESC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DDE3F5"/>
                          </a:solidFill>
                          <a:latin typeface="맑은 고딕"/>
                        </a:rPr>
                        <a:t>로비 복귀 (자동 저장)</a:t>
                      </a:r>
                    </a:p>
                  </a:txBody>
                  <a:tcPr marT="27432" marB="27432" anchor="ctr">
                    <a:solidFill>
                      <a:srgbClr val="141B30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29400" y="1371600"/>
            <a:ext cx="4919472" cy="493776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01993" y="15624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30568" y="1591056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627632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2BD6"/>
                </a:solidFill>
                <a:latin typeface="맑은 고딕"/>
              </a:rPr>
              <a:t>🎲 게임 진행 루프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1488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E14D"/>
                </a:solidFill>
                <a:latin typeface="맑은 고딕"/>
              </a:rPr>
              <a:t>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130552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챕터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423160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5개 챕터 순차 해금 (Sector Zero → Singularity)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95351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E14D"/>
                </a:solidFill>
                <a:latin typeface="맑은 고딕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935224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전투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227832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적 격파 → XP 오브·골드·재화 수집, 보스전 돌입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75818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E14D"/>
                </a:solidFill>
                <a:latin typeface="맑은 고딕"/>
              </a:rPr>
              <a:t>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739896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레벨업 빌드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032504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연사 / 공격력 / 체력 / 실드 / 속도 / 멀티샷 중 선택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562856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E14D"/>
                </a:solidFill>
                <a:latin typeface="맑은 고딕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544568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성장 · 수집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837176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상점·제작·가챠로 열매·장비·기체 강화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36752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E14D"/>
                </a:solidFill>
                <a:latin typeface="맑은 고딕"/>
              </a:rPr>
              <a:t>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349240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온라인 대결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5641848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로비에서 매치메이킹 → 1vs1 / 협동 모드 입장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1505" y="446913"/>
            <a:ext cx="139446" cy="62407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만들면서 배운점  </a:t>
            </a:r>
            <a:r>
              <a:rPr sz="1300" b="0">
                <a:solidFill>
                  <a:srgbClr val="00E5FF"/>
                </a:solidFill>
                <a:latin typeface="맑은 고딕"/>
              </a:rPr>
              <a:t>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8686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3B0"/>
                </a:solidFill>
                <a:latin typeface="맑은 고딕"/>
              </a:rPr>
              <a:t>06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4114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F2BD6"/>
                </a:solidFill>
                <a:latin typeface="맑은 고딕"/>
              </a:rPr>
              <a:t>DIMENSION </a:t>
            </a:r>
            <a:r>
              <a:rPr sz="1200" b="1">
                <a:solidFill>
                  <a:srgbClr val="00E5FF"/>
                </a:solidFill>
                <a:latin typeface="맑은 고딕"/>
              </a:rPr>
              <a:t>FIGHT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11296" cy="251460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673" y="160820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636776"/>
            <a:ext cx="45720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18488"/>
            <a:ext cx="31455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맑은 고딕"/>
              </a:rPr>
              <a:t>🔒  </a:t>
            </a:r>
            <a:r>
              <a:rPr sz="1300" b="1">
                <a:solidFill>
                  <a:srgbClr val="00E5FF"/>
                </a:solidFill>
                <a:latin typeface="맑은 고딕"/>
              </a:rPr>
              <a:t>동시성 버그의 무서움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30552"/>
            <a:ext cx="314553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DDE3F5"/>
                </a:solidFill>
                <a:latin typeface="맑은 고딕"/>
              </a:rPr>
              <a:t>DB 커넥션을 try/finally 없이 닫으면, 쿼리 하나가 실패했을 때 잠금이 풀리지 않아 이후 모든 저장이 통째로 막혀버렸다.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64408"/>
            <a:ext cx="314553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FE14D"/>
                </a:solidFill>
                <a:latin typeface="맑은 고딕"/>
              </a:rPr>
              <a:t>→ 재현 테스트로 먼저 버그를 잡아낸 뒤 고치는 습관의 중요성을 체감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417320"/>
            <a:ext cx="3511296" cy="251460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7121" y="160820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1636776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1618488"/>
            <a:ext cx="31455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맑은 고딕"/>
              </a:rPr>
              <a:t>⏱️  </a:t>
            </a:r>
            <a:r>
              <a:rPr sz="1300" b="1">
                <a:solidFill>
                  <a:srgbClr val="FF2BD6"/>
                </a:solidFill>
                <a:latin typeface="맑은 고딕"/>
              </a:rPr>
              <a:t>블로킹 소켓의 함정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130552"/>
            <a:ext cx="314553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DDE3F5"/>
                </a:solidFill>
                <a:latin typeface="맑은 고딕"/>
              </a:rPr>
              <a:t>connect()를 그냥 부르면 서버가 죽어있을 때 OS 기본값(약 21초)만큼 화면이 그대로 멈춰버렸다.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264408"/>
            <a:ext cx="314553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FE14D"/>
                </a:solidFill>
                <a:latin typeface="맑은 고딕"/>
              </a:rPr>
              <a:t>→ 논블로킹 소켓 + select()로 타임아웃을 직접 제어해야 진짜 반응하는 프로그램이 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8976" y="1417320"/>
            <a:ext cx="3511296" cy="251460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81569" y="160820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E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636776"/>
            <a:ext cx="457200" cy="41148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618488"/>
            <a:ext cx="31455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맑은 고딕"/>
              </a:rPr>
              <a:t>🔑  </a:t>
            </a:r>
            <a:r>
              <a:rPr sz="1300" b="1">
                <a:solidFill>
                  <a:srgbClr val="FFE14D"/>
                </a:solidFill>
                <a:latin typeface="맑은 고딕"/>
              </a:rPr>
              <a:t>비밀번호 대신 토큰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1856" y="2130552"/>
            <a:ext cx="314553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DDE3F5"/>
                </a:solidFill>
                <a:latin typeface="맑은 고딕"/>
              </a:rPr>
              <a:t>자동 로그인을 위해 비밀번호를 파일에 저장하면 그 파일을 훔치면 끝이었다.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6" y="3264408"/>
            <a:ext cx="314553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0E5FF"/>
                </a:solidFill>
                <a:latin typeface="맑은 고딕"/>
              </a:rPr>
              <a:t>→ 서명된 만료 토큰(HMAC)으로 대체 — 훔쳐도 시간이 지나면 무용지물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41648"/>
            <a:ext cx="3511296" cy="251460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673" y="4232529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" y="4261104"/>
            <a:ext cx="45720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42816"/>
            <a:ext cx="31455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맑은 고딕"/>
              </a:rPr>
              <a:t>🧩  </a:t>
            </a:r>
            <a:r>
              <a:rPr sz="1300" b="1">
                <a:solidFill>
                  <a:srgbClr val="00E5FF"/>
                </a:solidFill>
                <a:latin typeface="맑은 고딕"/>
              </a:rPr>
              <a:t>실행 파일도 '트리'로 산다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54880"/>
            <a:ext cx="314553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DDE3F5"/>
                </a:solidFill>
                <a:latin typeface="맑은 고딕"/>
              </a:rPr>
              <a:t>PyInstaller onefile로 만든 exe는 겉보기엔 하나지만 속으로 부트스트래퍼+실제 프로세스가 따로 떠 있었다.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88736"/>
            <a:ext cx="314553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FE14D"/>
                </a:solidFill>
                <a:latin typeface="맑은 고딕"/>
              </a:rPr>
              <a:t>→ 단순 종료로는 프로세스가 안 죽는다는 걸 실제로 창관리자를 보며 확인 후 트리 종료로 해결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24528" y="4041648"/>
            <a:ext cx="3511296" cy="251460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97121" y="4232529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25696" y="4261104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8" y="4242816"/>
            <a:ext cx="31455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맑은 고딕"/>
              </a:rPr>
              <a:t>🈶  </a:t>
            </a:r>
            <a:r>
              <a:rPr sz="1300" b="1">
                <a:solidFill>
                  <a:srgbClr val="FF2BD6"/>
                </a:solidFill>
                <a:latin typeface="맑은 고딕"/>
              </a:rPr>
              <a:t>한글 경로가 빌드를 막을 수도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4754880"/>
            <a:ext cx="314553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DDE3F5"/>
                </a:solidFill>
                <a:latin typeface="맑은 고딕"/>
              </a:rPr>
              <a:t>C++ 컴파일러(cc1plus)가 유니코드 경로에서 알 수 없는 오류로 조용히 죽는 걸 겪었다.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5888736"/>
            <a:ext cx="314553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FFE14D"/>
                </a:solidFill>
                <a:latin typeface="맑은 고딕"/>
              </a:rPr>
              <a:t>→ 문제를 우회하기보다 원인을 끝까지 추적하는 게 결국 더 빠른 길이었다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08976" y="4041648"/>
            <a:ext cx="3511296" cy="251460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81569" y="4232529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E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0144" y="4261104"/>
            <a:ext cx="457200" cy="41148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1856" y="4242816"/>
            <a:ext cx="31455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맑은 고딕"/>
              </a:rPr>
              <a:t>🌐  </a:t>
            </a:r>
            <a:r>
              <a:rPr sz="1300" b="1">
                <a:solidFill>
                  <a:srgbClr val="FFE14D"/>
                </a:solidFill>
                <a:latin typeface="맑은 고딕"/>
              </a:rPr>
              <a:t>게임과 웹은 언어가 다르다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4754880"/>
            <a:ext cx="314553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DDE3F5"/>
                </a:solidFill>
                <a:latin typeface="맑은 고딕"/>
              </a:rPr>
              <a:t>게임 클라이언트는 TCP 소켓만 쓰는데, 무료 서버는 WebSocket만 지원했다.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1856" y="5888736"/>
            <a:ext cx="314553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0E5FF"/>
                </a:solidFill>
                <a:latin typeface="맑은 고딕"/>
              </a:rPr>
              <a:t>→ 로컬 프록시로 TCP↔WSS를 직접 번역 — '중간에서 통역'하는 설계의 유용함을 배움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1505" y="446913"/>
            <a:ext cx="139446" cy="62407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75488"/>
            <a:ext cx="82296" cy="56692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좋은점과 개선점  </a:t>
            </a:r>
            <a:r>
              <a:rPr sz="1300" b="0">
                <a:solidFill>
                  <a:srgbClr val="00E5FF"/>
                </a:solidFill>
                <a:latin typeface="맑은 고딕"/>
              </a:rPr>
              <a:t>STRENGTHS &amp;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8686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3B0"/>
                </a:solidFill>
                <a:latin typeface="맑은 고딕"/>
              </a:rPr>
              <a:t>07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4114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F2BD6"/>
                </a:solidFill>
                <a:latin typeface="맑은 고딕"/>
              </a:rPr>
              <a:t>DIMENSION </a:t>
            </a:r>
            <a:r>
              <a:rPr sz="1200" b="1">
                <a:solidFill>
                  <a:srgbClr val="00E5FF"/>
                </a:solidFill>
                <a:latin typeface="맑은 고딕"/>
              </a:rPr>
              <a:t>FIGHT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349240" cy="493776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673" y="15624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591056"/>
            <a:ext cx="457200" cy="411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27632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E5FF"/>
                </a:solidFill>
                <a:latin typeface="맑은 고딕"/>
              </a:rPr>
              <a:t>✅ 좋은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완성도 높은 콘텐츠 볼륨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50592"/>
            <a:ext cx="4800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5개 챕터, 10종 직업, 애니 IP 열매·스킬, 가챠·제작·강화까지 혼자서 방대한 콘텐츠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1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독창적인 핵심 메커닉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83863"/>
            <a:ext cx="4800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차원 전환(SHIFT) 하나로 이동·전투·전략이 동시에 바뀌는 게임만의 정체성 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1538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실서비스 수준의 인프라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17134"/>
            <a:ext cx="4800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회원가입·로그인·클라우드 저장·매치메이킹·릴레이까지 직접 설계한 백엔드 3종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48653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보안까지 챙긴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50405"/>
            <a:ext cx="4800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bcrypt 해싱 + HMAC 서명 토큰으로 평문 비밀번호를 어디에도 남기지 않음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371600"/>
            <a:ext cx="5349240" cy="493776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72225" y="156248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591056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1627632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2BD6"/>
                </a:solidFill>
                <a:latin typeface="맑은 고딕"/>
              </a:rPr>
              <a:t>🔧 개선하고 싶은 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148840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네트워크 지연 대응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450592"/>
            <a:ext cx="4800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P2P 릴레이 구조라 플레이어 간 핑 차이에 취약함 — 서버 측 입력 동기화 구조로 보완 예정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182111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자동화된 테스트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483863"/>
            <a:ext cx="4800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수동 재현 테스트로 버그를 잡았던 경험을 바탕으로 유닛·통합 테스트를 코드에 미리 심어두기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21538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밸런스 데이터 기반 튜닝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517134"/>
            <a:ext cx="4800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직업·무기·챕터 난이도가 감으로 설계됨 — 플레이 로그를 모아 수치 기반으로 다듬을 계획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248653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온보딩 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5550405"/>
            <a:ext cx="4800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3B0"/>
                </a:solidFill>
                <a:latin typeface="맑은 고딕"/>
              </a:rPr>
              <a:t>처음 접하는 사람에겐 조작·시스템이 한 번에 몰려옴 — 튜토리얼 단계 도입이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8298" y="1034523"/>
            <a:ext cx="42096" cy="420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87943" y="645543"/>
            <a:ext cx="39604" cy="396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11056" y="589426"/>
            <a:ext cx="33583" cy="33583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3208" y="2911352"/>
            <a:ext cx="48530" cy="48530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2428" y="4324832"/>
            <a:ext cx="39611" cy="39611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18449" y="2720434"/>
            <a:ext cx="53995" cy="53995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9891" y="913312"/>
            <a:ext cx="33618" cy="3361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32532" y="2115568"/>
            <a:ext cx="48138" cy="48138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53314" y="3917319"/>
            <a:ext cx="25159" cy="25159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61405" y="430606"/>
            <a:ext cx="20467" cy="20467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7154" y="3646537"/>
            <a:ext cx="46715" cy="4671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21322" y="3107938"/>
            <a:ext cx="29252" cy="29252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0834" y="1674013"/>
            <a:ext cx="39298" cy="3929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21367" y="2355556"/>
            <a:ext cx="34704" cy="347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920416" y="809695"/>
            <a:ext cx="33581" cy="33581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48362" y="3353308"/>
            <a:ext cx="19722" cy="1972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98343" y="3929811"/>
            <a:ext cx="50309" cy="50309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36404" y="2401523"/>
            <a:ext cx="36454" cy="3645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6261" y="641881"/>
            <a:ext cx="28161" cy="28161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7832" y="4810832"/>
            <a:ext cx="41957" cy="4195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61114" y="2645757"/>
            <a:ext cx="42744" cy="42744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39716" y="2437772"/>
            <a:ext cx="40632" cy="406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6975" y="5268541"/>
            <a:ext cx="23018" cy="23018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39040" y="6287525"/>
            <a:ext cx="36448" cy="36448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62801" y="3768058"/>
            <a:ext cx="50598" cy="5059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07364" y="1909411"/>
            <a:ext cx="33477" cy="33477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02950" y="2609066"/>
            <a:ext cx="26727" cy="26727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43075" y="1590760"/>
            <a:ext cx="26822" cy="2682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07360" y="1250507"/>
            <a:ext cx="28599" cy="28599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95026" y="2532341"/>
            <a:ext cx="39002" cy="39002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97452" y="3535240"/>
            <a:ext cx="40877" cy="40877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53481" y="5973177"/>
            <a:ext cx="53104" cy="531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71923" y="2736196"/>
            <a:ext cx="22074" cy="220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7028" y="461869"/>
            <a:ext cx="25923" cy="25923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36895" y="4119787"/>
            <a:ext cx="22032" cy="22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39611" y="695842"/>
            <a:ext cx="31587" cy="31587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5144" y="1426139"/>
            <a:ext cx="32048" cy="32048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619943" y="4130430"/>
            <a:ext cx="35630" cy="35630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24363" y="6810698"/>
            <a:ext cx="35332" cy="353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92598" y="988357"/>
            <a:ext cx="45708" cy="45708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20770" y="4746125"/>
            <a:ext cx="37173" cy="37173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565430" y="3622789"/>
            <a:ext cx="23650" cy="236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117402" y="5199344"/>
            <a:ext cx="29190" cy="29190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66811" y="1790728"/>
            <a:ext cx="31700" cy="31700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25806" y="1527912"/>
            <a:ext cx="38096" cy="380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009227" y="1529619"/>
            <a:ext cx="47969" cy="47969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803140" y="5612127"/>
            <a:ext cx="45349" cy="45349"/>
          </a:xfrm>
          <a:prstGeom prst="ellipse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431306" y="3379497"/>
            <a:ext cx="45025" cy="45025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608988" y="3238622"/>
            <a:ext cx="25370" cy="2537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632677" y="3067087"/>
            <a:ext cx="52560" cy="52560"/>
          </a:xfrm>
          <a:prstGeom prst="ellipse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2423160"/>
            <a:ext cx="9445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>
                <a:solidFill>
                  <a:srgbClr val="FF2BD6"/>
                </a:solidFill>
                <a:latin typeface="맑은 고딕"/>
              </a:rPr>
              <a:t>감</a:t>
            </a:r>
            <a:r>
              <a:rPr sz="4600" b="1">
                <a:solidFill>
                  <a:srgbClr val="00E5FF"/>
                </a:solidFill>
                <a:latin typeface="맑은 고딕"/>
              </a:rPr>
              <a:t>사</a:t>
            </a:r>
            <a:r>
              <a:rPr sz="4600" b="1">
                <a:solidFill>
                  <a:srgbClr val="FF2BD6"/>
                </a:solidFill>
                <a:latin typeface="맑은 고딕"/>
              </a:rPr>
              <a:t>합</a:t>
            </a:r>
            <a:r>
              <a:rPr sz="4600" b="1">
                <a:solidFill>
                  <a:srgbClr val="00E5FF"/>
                </a:solidFill>
                <a:latin typeface="맑은 고딕"/>
              </a:rPr>
              <a:t>니</a:t>
            </a:r>
            <a:r>
              <a:rPr sz="4600" b="1">
                <a:solidFill>
                  <a:srgbClr val="FF2BD6"/>
                </a:solidFill>
                <a:latin typeface="맑은 고딕"/>
              </a:rPr>
              <a:t>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27473" y="3217545"/>
            <a:ext cx="2343150" cy="102870"/>
          </a:xfrm>
          <a:prstGeom prst="rect">
            <a:avLst/>
          </a:prstGeom>
          <a:solidFill>
            <a:srgbClr val="0A0E1A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56048" y="3246120"/>
            <a:ext cx="228600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71600" y="36118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DDE3F5"/>
                </a:solidFill>
                <a:latin typeface="맑은 고딕"/>
              </a:rPr>
              <a:t>혼자서 기획부터 클라이언트, 서버, 배포까지 부딪혀가며 완성한 프로젝트입니다.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3977639"/>
            <a:ext cx="9445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E14D"/>
                </a:solidFill>
                <a:latin typeface="맑은 고딕"/>
              </a:rPr>
              <a:t>끝까지 들어주셔서 감사합니다. 함께 차원을 넘어봐요.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41648" y="4709160"/>
            <a:ext cx="4114800" cy="1051560"/>
          </a:xfrm>
          <a:prstGeom prst="roundRect">
            <a:avLst>
              <a:gd name="adj" fmla="val 6000"/>
            </a:avLst>
          </a:prstGeom>
          <a:solidFill>
            <a:srgbClr val="141B30"/>
          </a:solidFill>
          <a:ln w="12700">
            <a:solidFill>
              <a:srgbClr val="232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14241" y="4900041"/>
            <a:ext cx="514350" cy="98298"/>
          </a:xfrm>
          <a:prstGeom prst="rect">
            <a:avLst/>
          </a:prstGeom>
          <a:solidFill>
            <a:srgbClr val="0A0E1A"/>
          </a:solidFill>
          <a:ln w="952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42816" y="4928616"/>
            <a:ext cx="457200" cy="41148"/>
          </a:xfrm>
          <a:prstGeom prst="rect">
            <a:avLst/>
          </a:prstGeom>
          <a:solidFill>
            <a:srgbClr val="FF2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15968" y="4956048"/>
            <a:ext cx="3566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2BD6"/>
                </a:solidFill>
                <a:latin typeface="맑은 고딕"/>
              </a:rPr>
              <a:t>Q &amp; 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5968" y="5230368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3B0"/>
                </a:solidFill>
                <a:latin typeface="맑은 고딕"/>
              </a:rPr>
              <a:t>궁금하신 점, 편하게 질문해 주세요!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6126480"/>
            <a:ext cx="9445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B93B0"/>
                </a:solidFill>
                <a:latin typeface="맑은 고딕"/>
              </a:rPr>
              <a:t>DIMENSION FIGHT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